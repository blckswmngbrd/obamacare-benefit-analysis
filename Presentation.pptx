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59" r:id="rId6"/>
    <p:sldId id="262" r:id="rId7"/>
    <p:sldId id="264" r:id="rId8"/>
    <p:sldId id="260" r:id="rId9"/>
    <p:sldId id="261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F3B00-36B1-4284-9931-9D7487FD9125}" type="datetimeFigureOut">
              <a:rPr lang="en-US"/>
              <a:t>12/5/2016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69D92-D580-4434-A6D8-090DB57C7B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38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84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7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86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08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90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66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38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0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69D92-D580-4434-A6D8-090DB57C7BC2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6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HEALTH INSURANCE MARKET 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43350" y="5486400"/>
            <a:ext cx="8144134" cy="111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RANDALL CAMPBELL &amp; KALYANA S NANDURI</a:t>
            </a:r>
          </a:p>
        </p:txBody>
      </p:sp>
    </p:spTree>
    <p:extLst>
      <p:ext uri="{BB962C8B-B14F-4D97-AF65-F5344CB8AC3E}">
        <p14:creationId xmlns:p14="http://schemas.microsoft.com/office/powerpoint/2010/main" val="414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4247317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  <a:sym typeface="Wingdings"/>
              </a:rPr>
              <a:t>Health</a:t>
            </a:r>
            <a:r>
              <a:rPr lang="EN-US" sz="2800">
                <a:solidFill>
                  <a:srgbClr val="FFFFFF"/>
                </a:solidFill>
                <a:latin typeface="Calibri"/>
              </a:rPr>
              <a:t> insurance policies issued by private insurers and/or publicly-funded health programs, such as cost of medical treatments.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The U.S. insurance industry’s net premiums written totaled $1.2 trillion in 2015, with premiums recorded by life/health (L/H) insurers accounting for 55 percent and premiums by property/casualty (P/C) insurers accounting for 45 percent, according to S&amp;P Global Market Intelligence. </a:t>
            </a:r>
            <a:r>
              <a:rPr lang="EN-US" sz="2800">
                <a:solidFill>
                  <a:srgbClr val="000000"/>
                </a:solidFill>
                <a:latin typeface="Calibri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Calibri"/>
            </a:endParaRPr>
          </a:p>
          <a:p>
            <a:endParaRPr lang="EN-US" sz="2800">
              <a:latin typeface="Calibri"/>
            </a:endParaRPr>
          </a:p>
          <a:p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713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INTERESTING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3" name="Picture 2" descr="HealthCareS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64" y="2416175"/>
            <a:ext cx="8366761" cy="36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8525" y="2260472"/>
            <a:ext cx="10133013" cy="4401205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Our primary research is to determine the following:</a:t>
            </a:r>
            <a:endParaRPr lang="EN-US" sz="2800" dirty="0">
              <a:solidFill>
                <a:srgbClr val="FFFFFF"/>
              </a:solidFill>
              <a:latin typeface="Calibri"/>
              <a:cs typeface="Arial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Which healthcare plan benefit(s) and attribute(s) have the most impact on monthly premiums?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Which states provide healthcare plans with the lowest cost and most benefits?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Which plan benefit or attribute has the most impact on individual rate?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Arial"/>
                <a:cs typeface="Arial"/>
              </a:rPr>
              <a:t>Formulate a minimum of three common benefit and plan attribute profiles.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156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DATA SET –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3100" y="2312988"/>
            <a:ext cx="10567988" cy="1815882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Arial"/>
              </a:rPr>
              <a:t>Extremely large and complex data set with multiple fields.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Arial"/>
              </a:rPr>
              <a:t>Limited understanding of the unhealthy population subject only to historical medical information.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Arial"/>
              </a:rPr>
              <a:t>Model was heavily dependent on historical medical history.  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5030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DATA SET – CLEAN / TRANSFORM /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5188" y="2243065"/>
            <a:ext cx="9748837" cy="4216539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</a:rPr>
              <a:t>Used different csv's and merge them together. 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latin typeface="Calibri"/>
              </a:rPr>
              <a:t>After extensive time taking runs of the model, we used </a:t>
            </a:r>
            <a:r>
              <a:rPr lang="EN-US" sz="2400">
                <a:solidFill>
                  <a:srgbClr val="FFFFFF"/>
                </a:solidFill>
                <a:latin typeface="Calibri"/>
              </a:rPr>
              <a:t>the datbase.sqlite file granted in the original file. </a:t>
            </a:r>
            <a:endParaRPr lang="EN-US" sz="2400">
              <a:solidFill>
                <a:srgbClr val="FFFFFF"/>
              </a:solidFill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Created an r script that allows us to extract and transform the data as we see fit, an more importantly exact samples for modeling.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All the Blanks data has been cleared/modified as per the field requirement.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Assigned title to data dictionary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FFFF"/>
                </a:solidFill>
                <a:latin typeface="Calibri"/>
              </a:rPr>
              <a:t>All NA's(nulls and missing have been removed) have been and only completed cases utilized. This process significantly reduced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459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DATA SET – CLEAN / TRANSFORM /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5" name="Picture 4" descr="Types 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331691"/>
            <a:ext cx="9631362" cy="390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6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2362200"/>
            <a:ext cx="9784035" cy="3970318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Preliminary choice - Neural Network.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The results didn’t mention any clear insights about the fields that could impact the insurance plan types or health care spending.</a:t>
            </a:r>
            <a:endParaRPr lang="EN-US" sz="2800">
              <a:latin typeface="Trebuchet M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libri"/>
              </a:rPr>
              <a:t>The predictor importance results came out to be around 22%, which was extremely low to make and observations about the patterns of the industry.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libri"/>
              </a:rPr>
              <a:t>Thus, due to the black box nature of the Neural network,  an alternative choice of KNN ( K- Nearest Neighbors)  to used.</a:t>
            </a:r>
          </a:p>
        </p:txBody>
      </p:sp>
    </p:spTree>
    <p:extLst>
      <p:ext uri="{BB962C8B-B14F-4D97-AF65-F5344CB8AC3E}">
        <p14:creationId xmlns:p14="http://schemas.microsoft.com/office/powerpoint/2010/main" val="331483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5" name="Picture 4" descr="INDI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50" y="2586038"/>
            <a:ext cx="5233473" cy="3357562"/>
          </a:xfrm>
          <a:prstGeom prst="rect">
            <a:avLst/>
          </a:prstGeom>
        </p:spPr>
      </p:pic>
      <p:pic>
        <p:nvPicPr>
          <p:cNvPr id="6" name="Picture 5" descr="Screen Shot 2016-12-04 at 4.12.41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25" y="2593975"/>
            <a:ext cx="4556125" cy="332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4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6" name="Picture 5" descr="KMEANSCLUSTER1IMPORTAN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247900"/>
            <a:ext cx="5837238" cy="4001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2850" y="2495550"/>
            <a:ext cx="3804971" cy="3693319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rebuchet MS"/>
              </a:rPr>
              <a:t>Predictor Importance – The major fields that had high importance in prediction were as follows: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rebuchet MS"/>
              </a:rPr>
              <a:t>High Factors - Out of service area coverage (Most Important) , Disease management, Reference needed, Pregnant Notice, Is </a:t>
            </a:r>
            <a:r>
              <a:rPr lang="EN-US" err="1">
                <a:latin typeface="Trebuchet MS"/>
              </a:rPr>
              <a:t>Statemandate</a:t>
            </a:r>
            <a:r>
              <a:rPr lang="EN-US">
                <a:latin typeface="Trebuchet MS"/>
              </a:rPr>
              <a:t>, </a:t>
            </a:r>
            <a:r>
              <a:rPr lang="EN-US" err="1">
                <a:latin typeface="Trebuchet MS"/>
              </a:rPr>
              <a:t>IsEHB</a:t>
            </a:r>
            <a:endParaRPr lang="EN-US" u="sng"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rebuchet MS"/>
              </a:rPr>
              <a:t>Low Factors – Benefits, Individual Rate, Count of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FFFFFF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99215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523220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r>
              <a:rPr lang="EN-US" sz="2800">
                <a:latin typeface="Calibri"/>
              </a:rPr>
              <a:t>The individual rates are inversely proportional to the Benefits.</a:t>
            </a:r>
            <a:endParaRPr lang="EN-US" sz="280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" name="Picture 2" descr="Benefits and Individual 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3" y="2867206"/>
            <a:ext cx="10834687" cy="363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51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Trebuchet M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300" y="2220913"/>
            <a:ext cx="10482195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8650" y="2362200"/>
            <a:ext cx="9784035" cy="2677656"/>
          </a:xfrm>
          <a:prstGeom prst="rect">
            <a:avLst/>
          </a:prstGeom>
        </p:spPr>
        <p:txBody>
          <a:bodyPr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FFFF"/>
                </a:solidFill>
                <a:latin typeface="Calibri"/>
              </a:rPr>
              <a:t>Based on the results, our observations are as follows: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The individual rates are inversely proportional to the Benefits.</a:t>
            </a:r>
            <a:r>
              <a:rPr lang="EN-US" sz="2800">
                <a:solidFill>
                  <a:srgbClr val="000000"/>
                </a:solidFill>
                <a:latin typeface="Times"/>
              </a:rPr>
              <a:t>  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>
                <a:latin typeface="Calibri"/>
              </a:rPr>
              <a:t>The Highest Individual Rate was from Arkansas and Maximum Benefits were from Utah states respectively.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8448150"/>
      </p:ext>
    </p:extLst>
  </p:cSld>
  <p:clrMapOvr>
    <a:masterClrMapping/>
  </p:clrMapOvr>
</p:sld>
</file>

<file path=ppt/theme/theme1.xml><?xml version="1.0" encoding="utf-8"?>
<a:theme xmlns:a="http://schemas.openxmlformats.org/drawingml/2006/main" name="TM04033917[[fn=Berlin]]_novariants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4033917[[fn=Berlin]]_novariants" id="{309C13C0-3BE0-4E8F-8916-1D5516B3B5DD}" vid="{18E1BE87-7240-45DF-8788-3CAEB7F17A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Widescreen</PresentationFormat>
  <Paragraphs>52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</vt:lpstr>
      <vt:lpstr>Trebuchet MS</vt:lpstr>
      <vt:lpstr>Wingdings</vt:lpstr>
      <vt:lpstr>TM04033917[[fn=Berlin]]_novariants</vt:lpstr>
      <vt:lpstr>HEALTH INSURANCE MARKET PLACE</vt:lpstr>
      <vt:lpstr>INTRODUCTION </vt:lpstr>
      <vt:lpstr>INTERESTING FACTS</vt:lpstr>
      <vt:lpstr>OBJECTIVE</vt:lpstr>
      <vt:lpstr>DATA SET – CHALLENGES</vt:lpstr>
      <vt:lpstr>DATA SET – CLEAN / TRANSFORM / MERGE</vt:lpstr>
      <vt:lpstr>DATA SET – CLEAN / TRANSFORM / MERGE</vt:lpstr>
      <vt:lpstr>MODELLING</vt:lpstr>
      <vt:lpstr>RESULTS</vt:lpstr>
      <vt:lpstr>RESULTS</vt:lpstr>
      <vt:lpstr>RESULTS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INSURANCE MARKET PLACE</dc:title>
  <cp:lastModifiedBy>ThinkpadX220</cp:lastModifiedBy>
  <cp:revision>2</cp:revision>
  <dcterms:modified xsi:type="dcterms:W3CDTF">2016-12-05T20:33:08Z</dcterms:modified>
</cp:coreProperties>
</file>